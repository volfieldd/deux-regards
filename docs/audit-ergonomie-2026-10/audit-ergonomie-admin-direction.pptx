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6" r:id="rId17"/>
    <p:sldId id="267" r:id="rId18"/>
    <p:sldId id="268" r:id="rId19"/>
    <p:sldId id="269" r:id="rId20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566928"/>
            <a:ext cx="3246120" cy="310896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3246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AUDIT PARCOURS · UX/UI · ACCESSIBILITÉ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6858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Nicephos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01952"/>
            <a:ext cx="6766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De l’interface
au résultat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520440"/>
            <a:ext cx="67665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7E2F4"/>
                </a:solidFill>
                <a:latin typeface="Aptos"/>
              </a:rPr>
              <a:t>Admin sûre mais pensée « une photo à la fois » : 42 s d’attente muette à l’import, 20 actions pour compléter 3 photos, 12 pour les classer. Fondations saines ; passer au travail par 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3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1-S03-fichiers-choisis.png"/>
          <p:cNvPicPr>
            <a:picLocks noChangeAspect="1"/>
          </p:cNvPicPr>
          <p:nvPr/>
        </p:nvPicPr>
        <p:blipFill>
          <a:blip r:embed="rId2"/>
          <a:srcRect l="20741" r="20741"/>
          <a:stretch>
            <a:fillRect/>
          </a:stretch>
        </p:blipFill>
        <p:spPr>
          <a:xfrm>
            <a:off x="8211312" y="731520"/>
            <a:ext cx="3611880" cy="2057400"/>
          </a:xfrm>
          <a:prstGeom prst="rect">
            <a:avLst/>
          </a:prstGeom>
        </p:spPr>
      </p:pic>
      <p:pic>
        <p:nvPicPr>
          <p:cNvPr id="10" name="Picture 9" descr="J1-S04-pendant-import.png"/>
          <p:cNvPicPr>
            <a:picLocks noChangeAspect="1"/>
          </p:cNvPicPr>
          <p:nvPr/>
        </p:nvPicPr>
        <p:blipFill>
          <a:blip r:embed="rId3"/>
          <a:srcRect l="20741" r="20741"/>
          <a:stretch>
            <a:fillRect/>
          </a:stretch>
        </p:blipFill>
        <p:spPr>
          <a:xfrm>
            <a:off x="8211312" y="3154680"/>
            <a:ext cx="361188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5166360"/>
            <a:ext cx="67208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Lancer la vague 1 (import avec progression) puis la vague 2 (travail par lot), avant la refonte des séries.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29107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AFC1DD"/>
                </a:solidFill>
                <a:latin typeface="Aptos"/>
              </a:rPr>
              <a:t>2026-10-10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SYNTHÈSE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Le verdict en un écran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Admin du serveur de test : import, complétion, séries, ouverture ; clavier et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2148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D55E00"/>
                </a:solidFill>
                <a:latin typeface="Aptos"/>
              </a:rPr>
              <a:t>42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d’attente sans progression pour 3 photos de 24 Mpx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874519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039112"/>
            <a:ext cx="2148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05A9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0545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actions pour compléter et publier 3 photos (9 écrans)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874519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039112"/>
            <a:ext cx="2148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05A9C"/>
                </a:solidFill>
                <a:latin typeface="Aptos"/>
              </a:rPr>
              <a:t>4 /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50545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actions pour changer la série d’une photo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392" y="1874519"/>
            <a:ext cx="25146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2039112"/>
            <a:ext cx="2148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005A9C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505456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tabulations pour atteindre l’import (pas de lien d’évitement)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10128"/>
            <a:ext cx="11018520" cy="2139696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844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9EC5F4"/>
                </a:solidFill>
                <a:latin typeface="Aptos"/>
              </a:rPr>
              <a:t>DÉCISION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9966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Lancer la vague 1 (import avec progression) puis la vague 2 (travail par lot), avant la refonte des séries.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28032"/>
            <a:ext cx="99669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FD9E9"/>
                </a:solidFill>
                <a:latin typeface="Aptos"/>
              </a:rPr>
              <a:t>Admin sûre mais pensée « une photo à la fois » : 42 s d’attente muette à l’import, 20 actions pour compléter 3 photos, 12 pour les classer. Fondations saines ; passer au travail par lot.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La fluidité se dégrade aux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Scores experts sur 10 ; ils servent à prioriser, pas à produire un comparatif externe.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2468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1828"/>
                </a:solidFill>
                <a:latin typeface="Aptos"/>
              </a:rPr>
              <a:t>Importer un lot de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83664"/>
            <a:ext cx="502920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1883664"/>
            <a:ext cx="2011680" cy="164592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828800"/>
            <a:ext cx="594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5A9C"/>
                </a:solidFill>
                <a:latin typeface="Aptos"/>
              </a:rPr>
              <a:t>4/10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41448"/>
            <a:ext cx="2468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1828"/>
                </a:solidFill>
                <a:latin typeface="Aptos"/>
              </a:rPr>
              <a:t>Compléter et publier les photos importées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478024"/>
            <a:ext cx="502920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478024"/>
            <a:ext cx="1508760" cy="164592"/>
          </a:xfrm>
          <a:prstGeom prst="round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423160"/>
            <a:ext cx="594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D55E00"/>
                </a:solidFill>
                <a:latin typeface="Aptos"/>
              </a:rPr>
              <a:t>3/10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035808"/>
            <a:ext cx="2468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1828"/>
                </a:solidFill>
                <a:latin typeface="Aptos"/>
              </a:rPr>
              <a:t>Gérer les séries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072384"/>
            <a:ext cx="502920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3072384"/>
            <a:ext cx="2011680" cy="164592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017520"/>
            <a:ext cx="594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5A9C"/>
                </a:solidFill>
                <a:latin typeface="Aptos"/>
              </a:rPr>
              <a:t>4/10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30168"/>
            <a:ext cx="2468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1828"/>
                </a:solidFill>
                <a:latin typeface="Aptos"/>
              </a:rPr>
              <a:t>Classer des photos dans une série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666744"/>
            <a:ext cx="502920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3666744"/>
            <a:ext cx="1005840" cy="164592"/>
          </a:xfrm>
          <a:prstGeom prst="round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611880"/>
            <a:ext cx="594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D55E00"/>
                </a:solidFill>
                <a:latin typeface="Aptos"/>
              </a:rPr>
              <a:t>2/10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224528"/>
            <a:ext cx="2468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1828"/>
                </a:solidFill>
                <a:latin typeface="Aptos"/>
              </a:rPr>
              <a:t>Choisir les photos de l’ouverture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261104"/>
            <a:ext cx="502920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46120" y="4261104"/>
            <a:ext cx="3017520" cy="164592"/>
          </a:xfrm>
          <a:prstGeom prst="round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206240"/>
            <a:ext cx="594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5A9C"/>
                </a:solidFill>
                <a:latin typeface="Aptos"/>
              </a:rPr>
              <a:t>6/10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847088"/>
            <a:ext cx="2011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210312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01828"/>
                </a:solidFill>
                <a:latin typeface="Aptos"/>
              </a:rPr>
              <a:t>Méthode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542032"/>
            <a:ext cx="1417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0072B2"/>
                </a:solidFill>
              </a:rPr>
              <a:t>● </a:t>
            </a:r>
            <a:r>
              <a:rPr sz="1000">
                <a:solidFill>
                  <a:srgbClr val="475467"/>
                </a:solidFill>
                <a:latin typeface="Aptos"/>
              </a:rPr>
              <a:t>5 parcours rejoués (Playwright), photos de 24 Mpx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0072B2"/>
                </a:solidFill>
              </a:rPr>
              <a:t>● </a:t>
            </a:r>
            <a:r>
              <a:rPr sz="1000">
                <a:solidFill>
                  <a:srgbClr val="475467"/>
                </a:solidFill>
                <a:latin typeface="Aptos"/>
              </a:rPr>
              <a:t>Mesures : actions, écrans, durées, cibles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0072B2"/>
                </a:solidFill>
              </a:rPr>
              <a:t>● </a:t>
            </a:r>
            <a:r>
              <a:rPr sz="1000">
                <a:solidFill>
                  <a:srgbClr val="475467"/>
                </a:solidFill>
                <a:latin typeface="Aptos"/>
              </a:rPr>
              <a:t>Revue du code (fichier:ligne)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0072B2"/>
                </a:solidFill>
              </a:rPr>
              <a:t>● </a:t>
            </a:r>
            <a:r>
              <a:rPr sz="1000">
                <a:solidFill>
                  <a:srgbClr val="475467"/>
                </a:solidFill>
                <a:latin typeface="Aptos"/>
              </a:rPr>
              <a:t>Bastien &amp; Scapin, ISO 9241-110, WCAG 2.2 AA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0072B2"/>
                </a:solidFill>
              </a:rPr>
              <a:t>● </a:t>
            </a:r>
            <a:r>
              <a:rPr sz="1000">
                <a:solidFill>
                  <a:srgbClr val="475467"/>
                </a:solidFill>
                <a:latin typeface="Aptos"/>
              </a:rPr>
              <a:t>Maquettes dans le style réel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POINTS FORTS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Les patrons à généraliser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Le meilleur levier consiste souvent à étendre ce qui fonctionne déjà.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Brouillons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Rien n’est publié par accident : l’import crée des brouillons, la publication est un geste explicite.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74519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25696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Refus précis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Un fichier refusé est nommé avec sa raison et n’empêche pas le reste du 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1874519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9015" y="2029967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5" y="2048255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03911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Erreurs reliées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4414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Saisie conservée, champ signalé (aria-invalid) et message relié (aria-describedby).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2900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376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Clavier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Le glisser-déposer de la liste a ses boutons ↑ ↓ ; focus visible de 2 px ; contrastes AA.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0248" y="342900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Suppression sûre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176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Aucune suppression d’un seul clic ; conséquences annoncées.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7" y="3429000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29015" y="3584448"/>
            <a:ext cx="438912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5" y="3602736"/>
            <a:ext cx="4389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3593592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01828"/>
                </a:solidFill>
                <a:latin typeface="Aptos"/>
              </a:rPr>
              <a:t>Aide en contexte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99592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75467"/>
                </a:solidFill>
                <a:latin typeface="Aptos"/>
              </a:rPr>
              <a:t>Chaque écran mène à sa section d’aide.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PRIORITÉS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Les risques qui exigent une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Classement fondé sur impact, fréquence, récupérabilité et conséquence opérationnelle.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02536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0824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96" y="202996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490118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Import : 42 s sans progression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9011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Guidage (feedback immédiat) · ISO 9241-110 — Autodescription, contrôlabilité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74136"/>
            <a:ext cx="490118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L’auteur ne sait pas si l’import avance ni combien de temps attendre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98264"/>
            <a:ext cx="4901183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98848"/>
            <a:ext cx="46268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Envoi photo par photo avec % ; traitement en arrière-plan avec état par photo ; total du lot et temps restant.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847088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2002536"/>
            <a:ext cx="1188720" cy="310896"/>
          </a:xfrm>
          <a:prstGeom prst="roundRect">
            <a:avLst/>
          </a:prstGeom>
          <a:solidFill>
            <a:srgbClr val="D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020824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■ MAJEUR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96728" y="202996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F-M02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441448"/>
            <a:ext cx="4901183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Aptos"/>
              </a:rPr>
              <a:t>Import tout-ou-rien, sans annulation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926080"/>
            <a:ext cx="490118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05A9C"/>
                </a:solidFill>
                <a:latin typeface="Aptos"/>
              </a:rPr>
              <a:t>Bastien &amp; Scapin — Contrôle explicite · ISO 9241-110 — Contrôlabilité, tolérance aux erreurs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374136"/>
            <a:ext cx="4901183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475467"/>
                </a:solidFill>
                <a:latin typeface="Aptos"/>
              </a:rPr>
              <a:t>Une coupure réseau ou un clic ailleurs pendant l’envoi interrompt le lot sans indiquer quelles photos sont arrivées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398264"/>
            <a:ext cx="4901183" cy="877824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498848"/>
            <a:ext cx="4626864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Une requête par photo ; « Annuler le reste », « Réessayer » ; traitement poursuivi si l’onglet se ferme.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ACCESSIBILITÉ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Mesurer, nommer, puis corriger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WCAG 2.2 AA / principes RGAA ; les objectifs renforcés sont distingués des exigences AA.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1828"/>
                </a:solidFill>
                <a:latin typeface="Aptos"/>
              </a:rPr>
              <a:t>Texte secondaire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865376"/>
            <a:ext cx="338328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52928" y="1865376"/>
            <a:ext cx="2508460" cy="164592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1965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72B2"/>
                </a:solidFill>
                <a:latin typeface="Aptos"/>
              </a:rPr>
              <a:t>5.19:1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5000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1828"/>
                </a:solidFill>
                <a:latin typeface="Aptos"/>
              </a:rPr>
              <a:t>Bouton principal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368296"/>
            <a:ext cx="338328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2368296"/>
            <a:ext cx="3383280" cy="164592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32257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72B2"/>
                </a:solidFill>
                <a:latin typeface="Aptos"/>
              </a:rPr>
              <a:t>15.49:1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5292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1828"/>
                </a:solidFill>
                <a:latin typeface="Aptos"/>
              </a:rPr>
              <a:t>Bordure des champs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2871216"/>
            <a:ext cx="338328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52928" y="2871216"/>
            <a:ext cx="1527309" cy="164592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82549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72B2"/>
                </a:solidFill>
                <a:latin typeface="Aptos"/>
              </a:rPr>
              <a:t>3.16:1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5584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1828"/>
                </a:solidFill>
                <a:latin typeface="Aptos"/>
              </a:rPr>
              <a:t>Lien Supprimer (limite)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2928" y="3374136"/>
            <a:ext cx="338328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52928" y="3374136"/>
            <a:ext cx="2179798" cy="164592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2841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72B2"/>
                </a:solidFill>
                <a:latin typeface="Aptos"/>
              </a:rPr>
              <a:t>4.51:1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587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1828"/>
                </a:solidFill>
                <a:latin typeface="Aptos"/>
              </a:rPr>
              <a:t>Bandeau de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2928" y="3877056"/>
            <a:ext cx="3383280" cy="164592"/>
          </a:xfrm>
          <a:prstGeom prst="round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52928" y="3877056"/>
            <a:ext cx="2397295" cy="164592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83133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72B2"/>
                </a:solidFill>
                <a:latin typeface="Aptos"/>
              </a:rPr>
              <a:t>4.96:1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3488" y="1828800"/>
            <a:ext cx="4041648" cy="3337560"/>
          </a:xfrm>
          <a:prstGeom prst="round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10312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9EC5F4"/>
                </a:solidFill>
                <a:latin typeface="Aptos"/>
              </a:rPr>
              <a:t>Lecture transversale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2587752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FFFFFF"/>
                </a:solidFill>
                <a:latin typeface="Aptos"/>
              </a:rPr>
              <a:t>Cibles 30 × 34 px : conformes AA (≥ 24), sous l’objectif 44 px mobile.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FFFFFF"/>
                </a:solidFill>
                <a:latin typeface="Aptos"/>
              </a:rPr>
              <a:t>Focus visible, équivalents clavier ; pas de lien d’évitement (15 tabulations).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FFFFFF"/>
                </a:solidFill>
                <a:latin typeface="Aptos"/>
              </a:rPr>
              <a:t>Statuts et erreurs en texte, pas seulement en couleur.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FFFFFF"/>
                </a:solidFill>
                <a:latin typeface="Aptos"/>
              </a:rPr>
              <a:t>Libellés et erreurs reliés, aria-live à l’import ; lecteur d’écran non testé.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FEUILLE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01828"/>
                </a:solidFill>
                <a:latin typeface="Aptos"/>
              </a:rPr>
              <a:t>Séquence proposée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75467"/>
                </a:solidFill>
                <a:latin typeface="Aptos"/>
              </a:rPr>
              <a:t>Prioriser sécurité et premier résultat, puis récupération et mise à l’échelle.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8404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3401568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3401568" cy="7315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55E00"/>
                </a:solidFill>
                <a:latin typeface="Aptos"/>
              </a:rPr>
              <a:t>VAGUE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6896" y="2029968"/>
            <a:ext cx="1024128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048256"/>
            <a:ext cx="10241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1–2 semaines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Import fluide et rassurant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82112"/>
            <a:ext cx="2788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Liste des fichiers dès le dépôt, refus immédiats, dépôts cumulés (F-M03)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Envoi photo par photo avec progression, traitement en arrière-plan avec état (F-M01)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Annuler, réessayer, quitter sans perdre (F-M02)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D55E00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Lien « Aller au contenu » (F-M08)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847088"/>
            <a:ext cx="3401568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847088"/>
            <a:ext cx="3401568" cy="73152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210312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5A9C"/>
                </a:solidFill>
                <a:latin typeface="Aptos"/>
              </a:rPr>
              <a:t>VAGUE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2029968"/>
            <a:ext cx="1024128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48256"/>
            <a:ext cx="10241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1–2 semaines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615184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Travailler par 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182112"/>
            <a:ext cx="2788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Écran « Compléter le lot » : tableau éditable, appliquer aux n, publier les n (F-M04)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Sélection multiple et barre d’actions dans la liste (F-M05)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5A9C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Date tolérante (F-m01), titres provisoires signalés (F-m06)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7" y="1847088"/>
            <a:ext cx="3401568" cy="3438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73567" y="1847088"/>
            <a:ext cx="3401568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10312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072B2"/>
                </a:solidFill>
                <a:latin typeface="Aptos"/>
              </a:rPr>
              <a:t>VAGUE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3536" y="2029968"/>
            <a:ext cx="1024128" cy="310896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536" y="2048256"/>
            <a:ext cx="10241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101828"/>
                </a:solidFill>
                <a:latin typeface="Aptos"/>
              </a:rPr>
              <a:t>1 semaine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615184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Aptos"/>
              </a:rPr>
              <a:t>Séries visuelles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182112"/>
            <a:ext cx="2788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Cartes avec couverture, voir les photos, renommer en place (F-M06)</a:t>
            </a:r>
          </a:p>
          <a:p>
            <a:pPr>
              <a:spcAft>
                <a:spcPts val="700"/>
              </a:spcAft>
            </a:pPr>
            <a:r>
              <a:rPr sz="900">
                <a:solidFill>
                  <a:srgbClr val="0072B2"/>
                </a:solidFill>
              </a:rPr>
              <a:t>● </a:t>
            </a:r>
            <a:r>
              <a:rPr sz="1100">
                <a:solidFill>
                  <a:srgbClr val="475467"/>
                </a:solidFill>
                <a:latin typeface="Aptos"/>
              </a:rPr>
              <a:t>Création en tête, glisser les cartes, suppression avec déplacement (F-M07)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920240" cy="310896"/>
          </a:xfrm>
          <a:prstGeom prst="roundRect">
            <a:avLst/>
          </a:prstGeom>
          <a:solidFill>
            <a:srgbClr val="E5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005A9C"/>
                </a:solidFill>
                <a:latin typeface="Aptos"/>
              </a:rPr>
              <a:t>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2412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Lancer la vague 1 (import avec progression) puis la vague 2 (travail par lot), avant la refonte des séries.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0835640" cy="54864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EC5F4"/>
                </a:solidFill>
                <a:latin typeface="Aptos"/>
              </a:rPr>
              <a:t>Mesurer le résultat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D55E00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Aptos"/>
              </a:rPr>
              <a:t>Délai avant le premier retour après dépôt (cible &lt; 1 s)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55E00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Aptos"/>
              </a:rPr>
              <a:t>Actions pour importer, compléter et publier 10 photos (≈ 70 aujourd’hui ; cible ≤ 20)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55E00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Aptos"/>
              </a:rPr>
              <a:t>Actions pour classer 10 photos dans une série (40 → ≤ 4)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55E00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Aptos"/>
              </a:rPr>
              <a:t>Tabulations jusqu’à l’import (15 → 2)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D55E00"/>
                </a:solidFill>
              </a:rPr>
              <a:t>● </a:t>
            </a:r>
            <a:r>
              <a:rPr sz="1300">
                <a:solidFill>
                  <a:srgbClr val="FFFFFF"/>
                </a:solidFill>
                <a:latin typeface="Aptos"/>
              </a:rPr>
              <a:t>Lots interrompus récupérés sans réimport (cible 100 %)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24612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EC5F4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703320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Admin sûre mais pensée « une photo à la fois » : 42 s d’attente muette à l’import, 20 actions pour compléter 3 photos, 12 pour les classer. Fondations saines ; passer au travail par 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8229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475467"/>
                </a:solidFill>
                <a:latin typeface="Aptos"/>
              </a:rPr>
              <a:t>NICEPHOS · ADMIN · AUDIT UX &amp; ACCESSIBILITÉ —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48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47546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Import : une progression par photo</a:t>
            </a:r>
          </a:p>
        </p:txBody>
      </p:sp>
      <p:pic>
        <p:nvPicPr>
          <p:cNvPr id="5" name="Picture 4" descr="Import : une progression par photo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Chaque photo visible dès le dépôt : nom, vignette, poids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Envoi en %, puis « images 4 / 6 », puis « Prête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Fichier invalide refusé avant l’envoi ; annuler, réessayer, quitter sans perdre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F-M01 · F-M02 · F-M03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Compléter tout le lot sur un écran</a:t>
            </a:r>
          </a:p>
        </p:txBody>
      </p:sp>
      <p:pic>
        <p:nvPicPr>
          <p:cNvPr id="5" name="Picture 4" descr="Compléter tout le lot sur un écran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Tableau éditable : titre, série, lieu, date (sélecteur de mois)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« Appliquer aux 3 » puis « Publier les 3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10 photos : ≈ 67 actions → ≈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F-M04 · F-m01 · F-m06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Séries : des cartes, pas des formulaires</a:t>
            </a:r>
          </a:p>
        </p:txBody>
      </p:sp>
      <p:pic>
        <p:nvPicPr>
          <p:cNvPr id="5" name="Picture 4" descr="Séries : des cartes, pas des formulaires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Couverture, nombre de photos, « Voir les photos »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« Nouvelle série » en tête ; glisser les cartes (↑ ↓ au clavier)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Supprimer une série non vide : déplacer ses photos dans le même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F-M06 · F-M07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5A9C"/>
                </a:solidFill>
                <a:latin typeface="Aptos"/>
              </a:rPr>
              <a:t>AVANT / APRÈS · MAQUETTE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736"/>
                </a:solidFill>
                <a:latin typeface="Aptos"/>
              </a:rPr>
              <a:t>Photos : sélection multiple</a:t>
            </a:r>
          </a:p>
        </p:txBody>
      </p:sp>
      <p:pic>
        <p:nvPicPr>
          <p:cNvPr id="5" name="Picture 4" descr="Photos : sélection multiple : capture actuelle à gauche, maquette cible à dro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11064240" cy="3688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105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B1736"/>
                </a:solidFill>
                <a:latin typeface="Aptos"/>
              </a:rPr>
              <a:t/>
            </a:r>
            <a:r>
              <a:rPr sz="1400">
                <a:solidFill>
                  <a:srgbClr val="0B1736"/>
                </a:solidFill>
                <a:latin typeface="Aptos"/>
              </a:rPr>
              <a:t>● Cases à cocher, barre d’actions collante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Publier, dépublier, changer de série, supprimer en une fois</a:t>
            </a:r>
          </a:p>
          <a:p>
            <a:r>
              <a:rPr sz="1400">
                <a:solidFill>
                  <a:srgbClr val="0B1736"/>
                </a:solidFill>
                <a:latin typeface="Aptos"/>
              </a:rPr>
              <a:t>● Classer 10 photos : 40 actions →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467"/>
                </a:solidFill>
                <a:latin typeface="Aptos"/>
              </a:rPr>
              <a:t>Constats traités : F-M05 · F-m05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