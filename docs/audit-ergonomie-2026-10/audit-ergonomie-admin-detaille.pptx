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7" r:id="rId28"/>
    <p:sldId id="278" r:id="rId29"/>
    <p:sldId id="279" r:id="rId30"/>
    <p:sldId id="280" r:id="rId31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566928"/>
            <a:ext cx="1874519" cy="310896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1874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RESTITUTION DÉTAILLÉE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Nicephos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38528"/>
            <a:ext cx="9784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Audit des parcours utilisateurs,
de l’ergonomie et de l’accessibilité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73075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7E2F4"/>
                </a:solidFill>
                <a:latin typeface="Aptos"/>
              </a:rPr>
              <a:t>Admin du serveur de test : import, complétion, séries, ouverture ; clavier et mobile.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2636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AFC1DD"/>
                </a:solidFill>
                <a:latin typeface="Aptos"/>
              </a:rPr>
              <a:t>2026-10-10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Périmètre, preuves et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Admin du serveur de test : import, complétion, séries, ouverture ; clavier et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Méthodologie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5 parcours rejoués (Playwright), photos de 24 Mpx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Mesures : actions, écrans, durées, cibles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Revue du code (fichier:ligne)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Bastien &amp; Scapin, ISO 9241-110, WCAG 2.2 AA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Maquettes dans le style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1847088"/>
            <a:ext cx="5230368" cy="3611880"/>
          </a:xfrm>
          <a:prstGeom prst="round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214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D55E00"/>
                </a:solidFill>
                <a:latin typeface="Aptos"/>
              </a:rPr>
              <a:t>Limites explicites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96896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D55E00"/>
                </a:solidFill>
              </a:rPr>
              <a:t>● </a:t>
            </a:r>
            <a:r>
              <a:rPr sz="1200">
                <a:solidFill>
                  <a:srgbClr val="101828"/>
                </a:solidFill>
                <a:latin typeface="Aptos"/>
              </a:rPr>
              <a:t>Lecteur d’écran non testé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D55E00"/>
                </a:solidFill>
              </a:rPr>
              <a:t>● </a:t>
            </a:r>
            <a:r>
              <a:rPr sz="1200">
                <a:solidFill>
                  <a:srgbClr val="101828"/>
                </a:solidFill>
                <a:latin typeface="Aptos"/>
              </a:rPr>
              <a:t>Zoom 200 % et contrastes élevés non testés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D55E00"/>
                </a:solidFill>
              </a:rPr>
              <a:t>● </a:t>
            </a:r>
            <a:r>
              <a:rPr sz="1200">
                <a:solidFill>
                  <a:srgbClr val="101828"/>
                </a:solidFill>
                <a:latin typeface="Aptos"/>
              </a:rPr>
              <a:t>Durées mesurées sur un serveur chargé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D55E00"/>
                </a:solidFill>
              </a:rPr>
              <a:t>● </a:t>
            </a:r>
            <a:r>
              <a:rPr sz="1200">
                <a:solidFill>
                  <a:srgbClr val="101828"/>
                </a:solidFill>
                <a:latin typeface="Aptos"/>
              </a:rPr>
              <a:t>Pas de test avec les auteurs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D55E00"/>
                </a:solidFill>
              </a:rPr>
              <a:t>● </a:t>
            </a:r>
            <a:r>
              <a:rPr sz="1200">
                <a:solidFill>
                  <a:srgbClr val="101828"/>
                </a:solidFill>
                <a:latin typeface="Aptos"/>
              </a:rPr>
              <a:t>Maquettes statiques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État global et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Admin sûre mais pensée « une photo à la fois » : 42 s d’attente muette à l’import, 20 actions pour compléter 3 photos, 12 pour les classer. Fondations saines ; passer au travail par 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8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D55E00"/>
                </a:solidFill>
                <a:latin typeface="Aptos"/>
              </a:rPr>
              <a:t>42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1518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d’attente sans progression pour 3 photos de 24 Mpx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993392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167128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05A9C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1518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actions pour compléter et publier 3 photos (9 écrans)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993392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167128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05A9C"/>
                </a:solidFill>
                <a:latin typeface="Aptos"/>
              </a:rPr>
              <a:t>4 /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61518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actions pour changer la série d’une photo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392" y="1993392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2167128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05A9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615184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tabulations pour atteindre l’import (pas de lien d’évitement)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02152"/>
            <a:ext cx="11018520" cy="1572768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764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EC5F4"/>
                </a:solidFill>
                <a:latin typeface="Aptos"/>
              </a:rPr>
              <a:t>Décision proposée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519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"/>
              </a:rPr>
              <a:t>Lancer la vague 1 (import avec progression) puis la vague 2 (travail par lot), avant la refonte des séries.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POINTS FORTS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Patrons à préserver et à étendre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Éviter un refonte global lorsque des solutions robustes existent déjà dans le produit.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Brouillons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Rien n’est publié par accident : l’import crée des brouillons, la publication est un geste explicite.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Refus précis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Un fichier refusé est nommé avec sa raison et n’empêche pas le reste du 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9015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5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Erreurs reliées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Saisie conservée, champ signalé (aria-invalid) et message relié (aria-describedby).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2900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Clavier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Le glisser-déposer de la liste a ses boutons ↑ ↓ ; focus visible de 2 px ; contrastes AA.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42900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Suppression sûre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Aucune suppression d’un seul clic ; conséquences annoncées.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7" y="342900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29015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5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Aide en contexte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Chaque écran mène à sa section d’aide.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RIGUEUR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Niveaux de preuve et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La confiance du constat détermine la force de la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60020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72B2"/>
                </a:solidFill>
                <a:latin typeface="Aptos"/>
              </a:rPr>
              <a:t>CROSS-CONFIRMED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892807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Aptos"/>
              </a:rPr>
              <a:t>Runtime +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92807"/>
            <a:ext cx="5852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75467"/>
                </a:solidFill>
                <a:latin typeface="Aptos"/>
              </a:rPr>
              <a:t>Constat confirmé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160020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23744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RUNTIME-CONFIRMED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5117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Aptos"/>
              </a:rPr>
              <a:t>Observation directe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51176"/>
            <a:ext cx="5852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75467"/>
                </a:solidFill>
                <a:latin typeface="Aptos"/>
              </a:rPr>
              <a:t>Comportement confirmé sur l’état testé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163824"/>
            <a:ext cx="160020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82112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8A3F6C"/>
                </a:solidFill>
                <a:latin typeface="Aptos"/>
              </a:rPr>
              <a:t>CODE-CONFIRMED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20954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Aptos"/>
              </a:rPr>
              <a:t>Implémentation ou calcul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209544"/>
            <a:ext cx="5852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75467"/>
                </a:solidFill>
                <a:latin typeface="Aptos"/>
              </a:rPr>
              <a:t>Constat d’implémentation confirmé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22191"/>
            <a:ext cx="160020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0479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D55E00"/>
                </a:solidFill>
                <a:latin typeface="Aptos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867911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Aptos"/>
              </a:rPr>
              <a:t>Preuve incomplète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867911"/>
            <a:ext cx="5852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75467"/>
                </a:solidFill>
                <a:latin typeface="Aptos"/>
              </a:rPr>
              <a:t>Risque à vérifier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160020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98848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NOT-TESTED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52628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Aptos"/>
              </a:rPr>
              <a:t>Moyen absent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526280"/>
            <a:ext cx="5852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75467"/>
                </a:solidFill>
                <a:latin typeface="Aptos"/>
              </a:rPr>
              <a:t>Écart de couverture, pas une conformité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J1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Importer un lot de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Persona : Auteur, après une séance (lot de 10 à 50 photos) · Objectif : Voir ses photos dans l’admin, prêtes à compléter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097280" cy="310896"/>
          </a:xfrm>
          <a:prstGeom prst="round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D55E00"/>
                </a:solidFill>
                <a:latin typeface="Aptos"/>
              </a:rPr>
              <a:t>Score 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Parcours observé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Ouvrir Photos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Choisir auteur et série du lot (avant les photos)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Glisser ou choisir les fichiers (seul le nombre s’affiche)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Cliquer Importer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Attendre 42 s devant un message fixe, bouton grisé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Arriver sur la liste des brouillons ; le fichier invalide n’est signalé qu’à la fin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Aucune progression ni état par photo pendant 42 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Fichier invalide découvert après tout l’envoi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Un second glisser remplace le lot au lieu de l’ajouter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Quitter la page interrompt l’import, sans annulation possible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331720"/>
            <a:ext cx="3611880" cy="2834640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5A9C"/>
                </a:solidFill>
                <a:latin typeface="Aptos"/>
              </a:rPr>
              <a:t>Parcours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Déposer les photos (n’importe quand, en plusieurs fois)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Voir chaque photo : vignette, envoi en %, traitement, prête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Fichiers invalides refusés immédiatement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Continuer pendant le traitement, ou annuler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Passer à « Compléter » dès la première photo prête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31536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5467"/>
                </a:solidFill>
                <a:latin typeface="Aptos"/>
              </a:rPr>
              <a:t>actions : 3 · écrans : 2 · changements d’écran : 0 · attentes : 42 s sans progression (3 × 24 Mpx)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J2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Compléter et publier les photos importées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Persona : Auteur · Objectif : Titre, lieu, date, série, puis publication du 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097280" cy="310896"/>
          </a:xfrm>
          <a:prstGeom prst="round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D55E00"/>
                </a:solidFill>
                <a:latin typeface="Aptos"/>
              </a:rPr>
              <a:t>Score 3/10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Parcours observé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Filtrer les brouillons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Ouvrir la fiche d’une photo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Saisir titre, lieu, date ; cocher Publiée ; Enregistrer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Revenir à la liste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Recommencer pour chaque photo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Aucune action groupée : effort proportionnel au nombre de photos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Date au format imposé : « 10/2026 » refusé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Titre par défaut « DSCF0241 » publiable tel quel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331720"/>
            <a:ext cx="3611880" cy="2834640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5A9C"/>
                </a:solidFill>
                <a:latin typeface="Aptos"/>
              </a:rPr>
              <a:t>Parcours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Voir tout le lot sur un écran (tableau éditable)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Sélectionner tout, appliquer série, lieu et date en une fois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Corriger les titres en place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Publier la sélection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31536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5467"/>
                </a:solidFill>
                <a:latin typeface="Aptos"/>
              </a:rPr>
              <a:t>actions : 20 pour 3 photos (6 à 8 par photo) · écrans : 9 · changements d’écran : 3 · attentes : aucune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J3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Gérer les séries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Persona : Auteur · Objectif : Créer, renommer, ordonner, supprimer une série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097280" cy="310896"/>
          </a:xfrm>
          <a:prstGeom prst="round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D55E00"/>
                </a:solidFill>
                <a:latin typeface="Aptos"/>
              </a:rPr>
              <a:t>Score 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Parcours observé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Ouvrir Séries : une pile de formulaires (nom, adresse, Enregistrer, ↑ ↓, Supprimer)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Faire défiler jusqu’à « Nouvelle série » (sous la ligne de flottaison)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Créer : la série arrive en dernier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Monter en tête : 1 clic par place (4 clics)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Supprimer une série non vide : le refus n’apparaît qu’après ouverture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Formulaires toujours ouverts : risque de modification involontaire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Adresse technique (slug) au premier plan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Pas de couverture ni d’accès aux photos de la série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Suppression bloquée sans chemin de résolution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331720"/>
            <a:ext cx="3611880" cy="2834640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5A9C"/>
                </a:solidFill>
                <a:latin typeface="Aptos"/>
              </a:rPr>
              <a:t>Parcours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Voir les séries en cartes (couverture, nombre de photos)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« Nouvelle série » en tête, nom puis Entrée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Glisser une carte (↑ ↓ au clavier)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Supprimer : déplacer les photos vers une autre série dans le même geste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31536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5467"/>
                </a:solidFill>
                <a:latin typeface="Aptos"/>
              </a:rPr>
              <a:t>actions : 7 (créer et monter en tête : 6) · écrans : 1 (page de 1262 px) · changements d’écran : 0 · attentes : aucune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J4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Classer des photos dans une série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Persona : Auteur · Objectif : Mettre 3 photos existantes dans une nouvelle série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097280" cy="310896"/>
          </a:xfrm>
          <a:prstGeom prst="round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D55E00"/>
                </a:solidFill>
                <a:latin typeface="Aptos"/>
              </a:rPr>
              <a:t>Score 2/10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Parcours observé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Ouvrir la fiche de la photo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Changer la série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Enregistrer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Revenir à la liste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Recommencer pour chaque photo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Aucune sélection multiple dans la liste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Effort linéaire : 40 actions pour 10 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331720"/>
            <a:ext cx="3611880" cy="2834640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5A9C"/>
                </a:solidFill>
                <a:latin typeface="Aptos"/>
              </a:rPr>
              <a:t>Parcours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Cocher les photos dans la liste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« Changer de série » dans la barre d’actions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Confirmer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31536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5467"/>
                </a:solidFill>
                <a:latin typeface="Aptos"/>
              </a:rPr>
              <a:t>actions : 12 pour 3 photos · écrans : 9 · changements d’écran : 3 · attentes : aucune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J5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Choisir les photos de l’ouverture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Persona : Auteur · Objectif : Composer le diaporama de l’accueil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09728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Score 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Parcours observé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Ouvrir Réglages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Faire défiler jusqu’à l’ouverture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Cocher jusqu’à 8 photos parmi toutes les publiées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Enregistrer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331720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17520"/>
            <a:ext cx="2697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Ordre imposé (celui de la galerie)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Au-delà de 8, les photos en trop sont ignorées sans avertissement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2331720"/>
            <a:ext cx="3611880" cy="2834640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587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5A9C"/>
                </a:solidFill>
                <a:latin typeface="Aptos"/>
              </a:rPr>
              <a:t>Parcours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Choisir les photos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Les ordonner par glisser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101828"/>
                </a:solidFill>
                <a:latin typeface="Aptos"/>
              </a:rPr>
              <a:t>Voir le compteur « 5 / 8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31536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5467"/>
                </a:solidFill>
                <a:latin typeface="Aptos"/>
              </a:rPr>
              <a:t>actions : 1 par photo + 1 · écrans : 1 · changements d’écran : 0 · attentes : aucune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RÉFÉRENTIELS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Couverture de l’analyse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La conformité est évaluée au niveau du parcours et des composants transverses.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5A9C"/>
                </a:solidFill>
                <a:latin typeface="Aptos"/>
              </a:rPr>
              <a:t>Bastien &amp; Scapin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61488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Guidage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Charge de travail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Contrôle explicite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Gestion des erreurs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5A9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Homogénéité &amp;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74519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217627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72B2"/>
                </a:solidFill>
                <a:latin typeface="Aptos"/>
              </a:rPr>
              <a:t>ISO 9241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761488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0072B2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Adéquation à la tâche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72B2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Auto-description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72B2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Maîtrise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72B2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Tolérance aux erreurs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72B2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Lisibilité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1874519"/>
            <a:ext cx="340156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176272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8A3F6C"/>
                </a:solidFill>
                <a:latin typeface="Aptos"/>
              </a:rPr>
              <a:t>WCAG / RGAA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761488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8A3F6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Perception &amp; contrastes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8A3F6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Clavier &amp; focus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8A3F6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Compréhension &amp; erreurs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8A3F6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Robustesse sémantique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8A3F6C"/>
                </a:solidFill>
              </a:rPr>
              <a:t>● </a:t>
            </a:r>
            <a:r>
              <a:rPr sz="1200">
                <a:solidFill>
                  <a:srgbClr val="475467"/>
                </a:solidFill>
                <a:latin typeface="Aptos"/>
              </a:rPr>
              <a:t>Zoom, reflow &amp; cibles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NON-CONFORMITÉS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Majeur — constats 1 à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8 constat(s) classé(s) majeur(s).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Import : 42 s sans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Guidage (feedback immédiat) · ISO 9241-110 — Autodescription, contrôlabilité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L’auteur ne sait pas si l’import avance ni combien de temps attendre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Envoi photo par photo avec % ; traitement en arrière-plan avec état par photo ; total du lot et temps restant.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Import tout-ou-rien, sans annulation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Contrôle explicite · ISO 9241-110 — Contrôlabilité, tolérance aux erreurs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Une coupure réseau ou un clic ailleurs pendant l’envoi interrompt le lot sans indiquer quelles photos sont arrivées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Une requête par photo ; « Annuler le reste », « Réessayer » ; traitement poursuivi si l’onglet se ferme.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Fichiers invalides vus trop tard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Gestion des erreurs (prévention) · Bastien &amp; Scapin — Charge de travail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L’auteur attend la fin pour apprendre qu’un fichier n’est pas pris en charge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9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Lister les fichiers au dépôt, refuser aussitôt les invalides, cumuler les dépôts successifs.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NON-CONFORMITÉS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Majeur — constats 4 à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8 constat(s) classé(s) majeur(s).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Compléter photo par photo : 20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Charge de travail (actions minimales) · ISO 9241-110 — Adéquation à la tâche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Le coût croît avec le lot (≈ 67 actions pour 10 photos)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Écran « Compléter le lot » : tableau éditable, « Appliquer aux n », « Publier les n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Aucune sélection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Charge de travail · ISO 9241-110 — Adéquation à la tâche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Reclasser, publier ou dépublier plusieurs photos impose un aller-retour par photo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Cases à cocher et barre d’actions : publier, dépublier, changer de série, supprimer.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Séries : des formulaires, pas des séries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Guidage (groupement, distinction) · Bastien &amp; Scapin — Signifiance des codes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Lecture difficile (aucun visuel), modification involontaire possible, adresse technique au premier plan, aucun accès aux photos d’une série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9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Cartes avec couverture et nombre de photos ; « Voir les photos » ; renommer en place.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NON-CONFORMITÉS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Majeur — constats 7 à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8 constat(s) classé(s) majeur(s).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Séries : créer, ordonner, supprimer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Gestion des erreurs (correction) · Bastien &amp; Scapin — Charge de travail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On cherche où créer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« Nouvelle série » en tête ; glisser les cartes ; supprimer en déplaçant les photos.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29967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Pas de lien d’évitement (2.4.1)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WCAG 2.4.1 Contourner des blocs (A) · Bastien &amp; Scapin — Charge de travail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Au clavier, chaque page impose de traverser les 12 entrées du menu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Lien « Aller au contenu » en premier élément focusable ; « Aller à l’import » sur Photos.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NON-CONFORMITÉS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Mineur — constats 1 à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6 constat(s) classé(s) mineur(s).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Date au format imposé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Bastien &amp; Scapin — Gestion des erreurs (prévention) · ISO 9241-110 — Tolérance aux erreurs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Erreur évitable à chaque saisie « naturelle »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Champ mois et formats tolérés (10/2026, oct. 2026) normalisés en 2026-10.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Auteur et série demandés avant les photos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ISO 9241-110 — Conformité aux attentes · Bastien &amp; Scapin — Compatibilité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L’ordre inverse du geste naturel (on part des photos) et un lot mixte impose plusieurs imports.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Déposer d’abord ; auteur et série par défaut, modifiables ensuite.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Mobile : en-tête de 256 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WCAG 2.5.8 Taille de la cible (AA) — respecté (≥ 24 px) · Objectif de conception 44 × 44 px (WCAG 2.5.5 AAA)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Sur téléphone, le contenu commence bas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9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Menu replié sous 720 px ; cibles de 44 px sur mobile.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NON-CONFORMITÉS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Mineur — constats 4 à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6 constat(s) classé(s) mineur(s).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Ouverture : ordre imposé, limite muette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Bastien &amp; Scapin — Contrôle explicite · Bastien &amp; Scapin — Gestion des erreurs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L’auteur ne compose pas son diaporama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Sélection ordonnée par glisser, compteur « 5 / 8 », cases bloquées à 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Liste des photos trop basse (754 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Bastien &amp; Scapin — Densité informationnelle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La page Photos montre une seule ligne sans défilement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Import en bouton, filtres compacts, vue grille.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1874519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2029967"/>
            <a:ext cx="118872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2048255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75467"/>
                </a:solidFill>
                <a:latin typeface="Aptos"/>
              </a:rPr>
              <a:t>● MINEUR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205740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468879"/>
            <a:ext cx="3072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Titres « DSCF… » publiables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95351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75467"/>
                </a:solidFill>
                <a:latin typeface="Aptos"/>
              </a:rPr>
              <a:t>Bastien &amp; Scapin — Gestion des erreurs (prévention)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401568"/>
            <a:ext cx="307238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Risque de publier « DSCF0241 » sur le site.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9" y="4425696"/>
            <a:ext cx="3072384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526280"/>
            <a:ext cx="27980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Signaler les titres provisoires ; confirmer avant de publier.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ACCESSIBILITÉ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Lecture transversale WCAG 2.2 AA / RGAA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Séparer les échecs confirmés, les risques et les tests non réalisés.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574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A9C"/>
                </a:solidFill>
                <a:latin typeface="Aptos"/>
              </a:rPr>
              <a:t>Contraste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41448"/>
            <a:ext cx="2788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5 couple(s) mesuré(s)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20574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A9C"/>
                </a:solidFill>
                <a:latin typeface="Aptos"/>
              </a:rPr>
              <a:t>Cibles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441448"/>
            <a:ext cx="2788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Cibles 30 × 34 px : conformes AA (≥ 24), sous l’objectif 44 px mobile.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0574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A9C"/>
                </a:solidFill>
                <a:latin typeface="Aptos"/>
              </a:rPr>
              <a:t>Clavier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441448"/>
            <a:ext cx="2788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Focus visible, équivalents clavier ; pas de lien d’évitement (15 tabulations).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10711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93591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A9C"/>
                </a:solidFill>
                <a:latin typeface="Aptos"/>
              </a:rPr>
              <a:t>Couleur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977639"/>
            <a:ext cx="2788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Statuts et erreurs en texte, pas seulement en couleur.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3410711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3593591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A9C"/>
                </a:solidFill>
                <a:latin typeface="Aptos"/>
              </a:rPr>
              <a:t>Sémantique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3977639"/>
            <a:ext cx="2788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Libellés et erreurs reliés, aria-live à l’import ; lecteur d’écran non testé.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ACCESSIBILITÉ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Contrastes mesurés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Un ratio numérique est une preuve ; une impression visuelle ne suffit pas.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379476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84248"/>
            <a:ext cx="364845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874519"/>
            <a:ext cx="141732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84248"/>
            <a:ext cx="12710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Premier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0448" y="1874519"/>
            <a:ext cx="141732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984248"/>
            <a:ext cx="12710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Arrière-plan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7768" y="1874519"/>
            <a:ext cx="105156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984248"/>
            <a:ext cx="90525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7" y="1874519"/>
            <a:ext cx="105156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84248"/>
            <a:ext cx="90525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Seuil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0888" y="1874519"/>
            <a:ext cx="1188720" cy="384048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84248"/>
            <a:ext cx="10424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Statut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04288"/>
            <a:ext cx="3794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414016"/>
            <a:ext cx="36484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Texte secondaire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8" y="2304288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414016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#6B665D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2304288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414016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#F6F4EF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7768" y="2304288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2414016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5.19:1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9327" y="2304288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414016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4.5:1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90888" y="2304288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2414016"/>
            <a:ext cx="10424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72B2"/>
                </a:solidFill>
                <a:latin typeface="Aptos"/>
              </a:rPr>
              <a:t>Conforme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743200"/>
            <a:ext cx="3794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2852928"/>
            <a:ext cx="36484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Bouton principal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2743200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2852928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#F6F4EF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2743200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2852928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#1D1C1A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87768" y="2743200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19" y="2852928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15.49:1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9327" y="2743200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852928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4.5:1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90888" y="2743200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2852928"/>
            <a:ext cx="10424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72B2"/>
                </a:solidFill>
                <a:latin typeface="Aptos"/>
              </a:rPr>
              <a:t>Conforme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182112"/>
            <a:ext cx="3794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3291840"/>
            <a:ext cx="36484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Bordure des champs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3128" y="3182112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3291840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#8F897F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0448" y="3182112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3291840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#F6F4EF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87768" y="3182112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3291840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3.16:1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9327" y="3182112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291840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3.0:1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90888" y="3182112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4040" y="3291840"/>
            <a:ext cx="10424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72B2"/>
                </a:solidFill>
                <a:latin typeface="Aptos"/>
              </a:rPr>
              <a:t>Conforme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3621024"/>
            <a:ext cx="3794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" y="3730752"/>
            <a:ext cx="36484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Lien Supprimer (limite)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3128" y="3621024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26280" y="3730752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#B5523B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70448" y="3621024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0" y="3730752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#F6F4EF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87768" y="3621024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60919" y="3730752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4.51:1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39327" y="3621024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730752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4.5:1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90888" y="3621024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64040" y="3730752"/>
            <a:ext cx="10424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72B2"/>
                </a:solidFill>
                <a:latin typeface="Aptos"/>
              </a:rPr>
              <a:t>Conforme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059935"/>
            <a:ext cx="3794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19" y="4169663"/>
            <a:ext cx="36484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Bandeau de test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53128" y="4059935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26280" y="4169663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#FFFFFF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70448" y="4059935"/>
            <a:ext cx="1417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4169663"/>
            <a:ext cx="12710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#B5523B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7768" y="4059935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19" y="4169663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4.96:1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39327" y="4059935"/>
            <a:ext cx="1051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4169663"/>
            <a:ext cx="905255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01828"/>
                </a:solidFill>
                <a:latin typeface="Aptos"/>
              </a:rPr>
              <a:t>4.5:1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90888" y="4059935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64040" y="4169663"/>
            <a:ext cx="104241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72B2"/>
                </a:solidFill>
                <a:latin typeface="Aptos"/>
              </a:rPr>
              <a:t>Conforme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 CIBLES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Gains potentiels à instrumenter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Les gains sont exprimés comme deltas observables, pas comme ROI inventé.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48255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Importer un lot de photos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68879"/>
            <a:ext cx="2798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Premier retour en &lt; 1 s au lieu de 42 s · Refus immédiat des fichiers invalides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2048255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Compléter et publier les photos importées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468879"/>
            <a:ext cx="2798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≈ 67 actions → ≈ 15 pour un lot de 10 photos · 9 écrans →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7" y="1874519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048255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Gérer les séries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468879"/>
            <a:ext cx="2798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Création visible sans défilement · Réordonnancement : 4 clics → 1 geste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60273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Classer des photos dans une série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023360"/>
            <a:ext cx="2798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4 actions par photo → 3 actions au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342900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360273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Choisir les photos de l’ouverture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4023360"/>
            <a:ext cx="2798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Ordre choisi par l’auteur · Limite visible avant l’envoi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PLAN D’ACTION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Feuille de route 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Chaque correction doit être reliée à un indicateur et un test de non-régression.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488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55E00"/>
                </a:solidFill>
                <a:latin typeface="Aptos"/>
              </a:rPr>
              <a:t>VAGUE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2075688"/>
            <a:ext cx="100584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2093976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1–2 semaines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700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Import fluide et rassurant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18688"/>
            <a:ext cx="2788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Liste des fichiers dès le dépôt, refus immédiats, dépôts cumulés (F-M03)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Envoi photo par photo avec progression, traitement en arrière-plan avec état (F-M01)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Annuler, réessayer, quitter sans perdre (F-M02)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Lien « Aller au contenu » (F-M08)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874519"/>
            <a:ext cx="340156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1488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VAGUE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075688"/>
            <a:ext cx="100584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093976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1–2 semaines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6700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Travailler par 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3218688"/>
            <a:ext cx="2788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Écran « Compléter le lot » : tableau éditable, appliquer aux n, publier les n (F-M04)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Sélection multiple et barre d’actions dans la liste (F-M05)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Date tolérante (F-m01), titres provisoires signalés (F-m06)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1874519"/>
            <a:ext cx="340156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1488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72B2"/>
                </a:solidFill>
                <a:latin typeface="Aptos"/>
              </a:rPr>
              <a:t>VAGUE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5247" y="2075688"/>
            <a:ext cx="1005840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7" y="2093976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 semaine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6700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Séries visuelles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3218688"/>
            <a:ext cx="2788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Cartes avec couverture, voir les photos, renommer en place (F-M06)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Création en tête, glisser les cartes, suppression avec déplacement (F-M07)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993392" cy="310896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MESURE &amp;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Vérifier le résultat, pas seulement la livraison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4892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Délai avant le premier retour après dépôt (cible &lt; 1 s)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Actions pour importer, compléter et publier 10 photos (≈ 70 aujourd’hui ; cible ≤ 20)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Actions pour classer 10 photos dans une série (40 → ≤ 4)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Tabulations jusqu’à l’import (15 → 2)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Lots interrompus récupérés sans réimport (cible 100 %)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D55E00"/>
                </a:solidFill>
              </a:rPr>
              <a:t>● </a:t>
            </a:r>
            <a:r>
              <a:rPr sz="1400">
                <a:solidFill>
                  <a:srgbClr val="FFFFFF"/>
                </a:solidFill>
                <a:latin typeface="Aptos"/>
              </a:rPr>
              <a:t>Audit axe sans violation sérieuse ; parcours complets au clavier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487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EC5F4"/>
                </a:solidFill>
                <a:latin typeface="Aptos"/>
              </a:rPr>
              <a:t>Sources &amp; traçabilité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907792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D7E2F4"/>
                </a:solidFill>
                <a:latin typeface="Aptos"/>
              </a:rPr>
              <a:t>Serveur de test http://10.21.30.23:3080 (10/10/2026)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D7E2F4"/>
                </a:solidFill>
                <a:latin typeface="Aptos"/>
              </a:rPr>
              <a:t>Dépôt Volfieldd/deux-regards (main, commit 90d117d)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D7E2F4"/>
                </a:solidFill>
                <a:latin typeface="Aptos"/>
              </a:rPr>
              <a:t>e2e/tests/audit.spec.js (parcours instrumentés)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D7E2F4"/>
                </a:solidFill>
                <a:latin typeface="Aptos"/>
              </a:rPr>
              <a:t>views/admin/*.eta, public/admin/admin.js, server/routes/admin.js, server/admin-repo.js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60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Les limites déclarées restent des tests à planifier, pas des conformités présumées.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DÉTAILLÉ UX, UI &amp; ACCESSIBILITÉ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Import : une progression par photo</a:t>
            </a:r>
          </a:p>
        </p:txBody>
      </p:sp>
      <p:pic>
        <p:nvPicPr>
          <p:cNvPr id="5" name="Picture 4" descr="Import : une progression par photo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Chaque photo visible dès le dépôt : nom, vignette, poids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Envoi en %, puis « images 4 / 6 », puis « Prête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Fichier invalide refusé avant l’envoi ; annuler, réessayer, quitter sans perdre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F-M01 · F-M02 · F-M03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Compléter tout le lot sur un écran</a:t>
            </a:r>
          </a:p>
        </p:txBody>
      </p:sp>
      <p:pic>
        <p:nvPicPr>
          <p:cNvPr id="5" name="Picture 4" descr="Compléter tout le lot sur un écran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Tableau éditable : titre, série, lieu, date (sélecteur de mois)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« Appliquer aux 3 » puis « Publier les 3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10 photos : ≈ 67 actions → ≈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F-M04 · F-m01 · F-m06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Séries : des cartes, pas des formulaires</a:t>
            </a:r>
          </a:p>
        </p:txBody>
      </p:sp>
      <p:pic>
        <p:nvPicPr>
          <p:cNvPr id="5" name="Picture 4" descr="Séries : des cartes, pas des formulaires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Couverture, nombre de photos, « Voir les photos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« Nouvelle série » en tête ; glisser les cartes (↑ ↓ au clavier)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Supprimer une série non vide : déplacer ses photos dans le même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F-M06 · F-M07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Photos : sélection multiple</a:t>
            </a:r>
          </a:p>
        </p:txBody>
      </p:sp>
      <p:pic>
        <p:nvPicPr>
          <p:cNvPr id="5" name="Picture 4" descr="Photos : sélection multiple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Cases à cocher, barre d’actions collante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Publier, dépublier, changer de série, supprimer en une fois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Classer 10 photos : 40 actions →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F-M05 · F-m05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